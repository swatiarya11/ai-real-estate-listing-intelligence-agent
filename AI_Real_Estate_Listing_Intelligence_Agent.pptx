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80" r:id="rId6"/>
    <p:sldId id="281" r:id="rId7"/>
    <p:sldId id="264" r:id="rId8"/>
    <p:sldId id="265" r:id="rId9"/>
    <p:sldId id="268" r:id="rId10"/>
    <p:sldId id="270" r:id="rId11"/>
    <p:sldId id="276" r:id="rId12"/>
    <p:sldId id="278" r:id="rId13"/>
    <p:sldId id="279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7A70"/>
    <a:srgbClr val="236163"/>
    <a:srgbClr val="348E90"/>
    <a:srgbClr val="2CB22F"/>
    <a:srgbClr val="AEFCFC"/>
    <a:srgbClr val="E0C1FF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26" autoAdjust="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a Mouli Kotta kota" userId="5fe5cc5c0dc36bb4" providerId="LiveId" clId="{14693061-018D-4BFC-863A-740DC1BB17C0}"/>
    <pc:docChg chg="delSld">
      <pc:chgData name="Chandra Mouli Kotta kota" userId="5fe5cc5c0dc36bb4" providerId="LiveId" clId="{14693061-018D-4BFC-863A-740DC1BB17C0}" dt="2026-01-05T08:01:23.060" v="0" actId="47"/>
      <pc:docMkLst>
        <pc:docMk/>
      </pc:docMkLst>
      <pc:sldChg chg="del">
        <pc:chgData name="Chandra Mouli Kotta kota" userId="5fe5cc5c0dc36bb4" providerId="LiveId" clId="{14693061-018D-4BFC-863A-740DC1BB17C0}" dt="2026-01-05T08:01:23.060" v="0" actId="47"/>
        <pc:sldMkLst>
          <pc:docMk/>
          <pc:sldMk cId="2694837450" sldId="699"/>
        </pc:sldMkLst>
      </pc:sldChg>
      <pc:sldMasterChg chg="delSldLayout">
        <pc:chgData name="Chandra Mouli Kotta kota" userId="5fe5cc5c0dc36bb4" providerId="LiveId" clId="{14693061-018D-4BFC-863A-740DC1BB17C0}" dt="2026-01-05T08:01:23.060" v="0" actId="47"/>
        <pc:sldMasterMkLst>
          <pc:docMk/>
          <pc:sldMasterMk cId="109456712" sldId="2147483660"/>
        </pc:sldMasterMkLst>
        <pc:sldLayoutChg chg="del">
          <pc:chgData name="Chandra Mouli Kotta kota" userId="5fe5cc5c0dc36bb4" providerId="LiveId" clId="{14693061-018D-4BFC-863A-740DC1BB17C0}" dt="2026-01-05T08:01:23.060" v="0" actId="47"/>
          <pc:sldLayoutMkLst>
            <pc:docMk/>
            <pc:sldMasterMk cId="109456712" sldId="2147483660"/>
            <pc:sldLayoutMk cId="3620839494" sldId="214748367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E60C21D-89F0-7F39-759C-75C5BEEA8DF7}"/>
              </a:ext>
            </a:extLst>
          </p:cNvPr>
          <p:cNvSpPr txBox="1"/>
          <p:nvPr/>
        </p:nvSpPr>
        <p:spPr>
          <a:xfrm>
            <a:off x="7324344" y="1866698"/>
            <a:ext cx="402336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 u="sng" dirty="0">
                <a:latin typeface="Aptos" panose="020B0004020202020204" pitchFamily="34" charset="0"/>
              </a:rPr>
              <a:t>Real Estate Listing Intelligence Agent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398B1-0E77-3DF9-6B6C-95C0B54050AB}"/>
              </a:ext>
            </a:extLst>
          </p:cNvPr>
          <p:cNvSpPr txBox="1"/>
          <p:nvPr/>
        </p:nvSpPr>
        <p:spPr>
          <a:xfrm>
            <a:off x="7324344" y="2663363"/>
            <a:ext cx="4023360" cy="86793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b="1" dirty="0">
                <a:latin typeface="Aptos" panose="020B0004020202020204" pitchFamily="34" charset="0"/>
              </a:rPr>
              <a:t>Agentic AI System for Automated Property Opportunity Discovery &amp; Investment Intelligence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379521-C1B7-BEC7-9526-919E9460C3DC}"/>
              </a:ext>
            </a:extLst>
          </p:cNvPr>
          <p:cNvSpPr txBox="1"/>
          <p:nvPr/>
        </p:nvSpPr>
        <p:spPr>
          <a:xfrm>
            <a:off x="7324344" y="1316254"/>
            <a:ext cx="3209544" cy="5293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200" b="1" dirty="0">
                <a:solidFill>
                  <a:srgbClr val="236163"/>
                </a:solidFill>
                <a:latin typeface="Aptos" panose="020B0004020202020204" pitchFamily="34" charset="0"/>
              </a:rPr>
              <a:t>Project Title-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822A7D-0762-C48B-F019-C9ABAB1EE69A}"/>
              </a:ext>
            </a:extLst>
          </p:cNvPr>
          <p:cNvSpPr txBox="1"/>
          <p:nvPr/>
        </p:nvSpPr>
        <p:spPr>
          <a:xfrm>
            <a:off x="7351776" y="4307474"/>
            <a:ext cx="3639312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b="1" dirty="0">
                <a:solidFill>
                  <a:srgbClr val="236163"/>
                </a:solidFill>
                <a:latin typeface="Aptos" panose="020B0004020202020204" pitchFamily="34" charset="0"/>
              </a:rPr>
              <a:t>Presented by- </a:t>
            </a:r>
            <a:r>
              <a:rPr b="1" dirty="0">
                <a:latin typeface="Aptos" panose="020B0004020202020204" pitchFamily="34" charset="0"/>
              </a:rPr>
              <a:t>Swati Arya </a:t>
            </a:r>
            <a:endParaRPr lang="en-IN" b="1" dirty="0">
              <a:latin typeface="Aptos" panose="020B0004020202020204" pitchFamily="34" charset="0"/>
            </a:endParaRPr>
          </a:p>
          <a:p>
            <a:r>
              <a:rPr b="1" dirty="0">
                <a:solidFill>
                  <a:srgbClr val="236163"/>
                </a:solidFill>
                <a:latin typeface="Aptos" panose="020B0004020202020204" pitchFamily="34" charset="0"/>
              </a:rPr>
              <a:t>Date-</a:t>
            </a:r>
            <a:r>
              <a:rPr lang="en-IN" b="1" dirty="0">
                <a:latin typeface="Aptos" panose="020B0004020202020204" pitchFamily="34" charset="0"/>
              </a:rPr>
              <a:t>15</a:t>
            </a:r>
            <a:r>
              <a:rPr b="1" dirty="0">
                <a:latin typeface="Aptos" panose="020B0004020202020204" pitchFamily="34" charset="0"/>
              </a:rPr>
              <a:t>-06-2026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E067F2-2754-B445-4FE6-6F09A484F6ED}"/>
              </a:ext>
            </a:extLst>
          </p:cNvPr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800" b="1" dirty="0">
                <a:latin typeface="Aptos" panose="020B0004020202020204" pitchFamily="34" charset="0"/>
              </a:rPr>
              <a:t>Problem Statement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97BD1E-6E21-89FE-2BE3-F5D3558BAFBD}"/>
              </a:ext>
            </a:extLst>
          </p:cNvPr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F8CF1-FA09-2F89-BFD2-4A311D4F6FEC}"/>
              </a:ext>
            </a:extLst>
          </p:cNvPr>
          <p:cNvSpPr txBox="1"/>
          <p:nvPr/>
        </p:nvSpPr>
        <p:spPr>
          <a:xfrm>
            <a:off x="868680" y="1417320"/>
            <a:ext cx="10058400" cy="2031325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Aptos" panose="020B0004020202020204" pitchFamily="34" charset="0"/>
              </a:rPr>
              <a:t>Property investors and brokers monitor multiple listing platforms daily to identify undervalued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Aptos" panose="020B0004020202020204" pitchFamily="34" charset="0"/>
              </a:rPr>
              <a:t>New listings appear frequently and are often missed due to manual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Aptos" panose="020B0004020202020204" pitchFamily="34" charset="0"/>
              </a:rPr>
              <a:t>Evaluating investment potential requires continuous tracking and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Aptos" panose="020B0004020202020204" pitchFamily="34" charset="0"/>
              </a:rPr>
              <a:t>Existing tools provide listings but do not automatically identify high-potential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Aptos" panose="020B0004020202020204" pitchFamily="34" charset="0"/>
              </a:rPr>
              <a:t>An intelligent system is needed to monitor listings, analyze potential, and notify users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800" b="1" dirty="0">
                <a:latin typeface="Aptos" panose="020B0004020202020204" pitchFamily="34" charset="0"/>
              </a:rPr>
              <a:t>Existing System vs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261872"/>
            <a:ext cx="10972800" cy="566928"/>
          </a:xfrm>
          <a:prstGeom prst="roundRect">
            <a:avLst/>
          </a:prstGeom>
          <a:solidFill>
            <a:srgbClr val="125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1417319"/>
            <a:ext cx="210312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 dirty="0">
                <a:solidFill>
                  <a:schemeClr val="bg1"/>
                </a:solidFill>
                <a:latin typeface="Aptos" panose="020B0004020202020204" pitchFamily="34" charset="0"/>
              </a:rPr>
              <a:t>Comparison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17319"/>
            <a:ext cx="32004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 dirty="0">
                <a:solidFill>
                  <a:schemeClr val="bg1"/>
                </a:solidFill>
                <a:latin typeface="Aptos" panose="020B0004020202020204" pitchFamily="34" charset="0"/>
              </a:rPr>
              <a:t>Existing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417319"/>
            <a:ext cx="338328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>
                <a:solidFill>
                  <a:schemeClr val="bg1"/>
                </a:solidFill>
                <a:latin typeface="Aptos" panose="020B0004020202020204" pitchFamily="34" charset="0"/>
              </a:rPr>
              <a:t>Proposed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530352"/>
          </a:xfrm>
          <a:prstGeom prst="rect">
            <a:avLst/>
          </a:prstGeom>
          <a:solidFill>
            <a:srgbClr val="F8FBFA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" panose="020B000402020202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713232" y="1947672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latin typeface="Aptos" panose="020B0004020202020204" pitchFamily="34" charset="0"/>
              </a:rPr>
              <a:t>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224028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>
                <a:latin typeface="Aptos" panose="020B0004020202020204" pitchFamily="34" charset="0"/>
              </a:rPr>
              <a:t>Property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84248"/>
            <a:ext cx="333756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>
                <a:latin typeface="Aptos" panose="020B0004020202020204" pitchFamily="34" charset="0"/>
              </a:rPr>
              <a:t>Manual portal browsing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984248"/>
            <a:ext cx="34290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 panose="020B0004020202020204" pitchFamily="34" charset="0"/>
              </a:rPr>
              <a:t>Automated listing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359152"/>
            <a:ext cx="10972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" panose="020B00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13232" y="2478024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latin typeface="Aptos" panose="020B0004020202020204" pitchFamily="34" charset="0"/>
              </a:rPr>
              <a:t>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523744"/>
            <a:ext cx="224028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>
                <a:latin typeface="Aptos" panose="020B0004020202020204" pitchFamily="34" charset="0"/>
              </a:rPr>
              <a:t>Opportunity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514600"/>
            <a:ext cx="333756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>
                <a:latin typeface="Aptos" panose="020B0004020202020204" pitchFamily="34" charset="0"/>
              </a:rPr>
              <a:t>Manual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514600"/>
            <a:ext cx="34290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 panose="020B0004020202020204" pitchFamily="34" charset="0"/>
              </a:rPr>
              <a:t>AI-powered scoring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889504"/>
            <a:ext cx="10972800" cy="530352"/>
          </a:xfrm>
          <a:prstGeom prst="rect">
            <a:avLst/>
          </a:prstGeom>
          <a:solidFill>
            <a:srgbClr val="F8FBFA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" panose="020B0004020202020204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13232" y="3008376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dirty="0">
                <a:latin typeface="Aptos" panose="020B0004020202020204" pitchFamily="34" charset="0"/>
              </a:rPr>
              <a:t>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054096"/>
            <a:ext cx="224028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>
                <a:latin typeface="Aptos" panose="020B0004020202020204" pitchFamily="34" charset="0"/>
              </a:rPr>
              <a:t>Investment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044952"/>
            <a:ext cx="333756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>
                <a:latin typeface="Aptos" panose="020B0004020202020204" pitchFamily="34" charset="0"/>
              </a:rPr>
              <a:t>Subjective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044952"/>
            <a:ext cx="34290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 panose="020B0004020202020204" pitchFamily="34" charset="0"/>
              </a:rPr>
              <a:t>Structured intelligence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419856"/>
            <a:ext cx="10972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" panose="020B0004020202020204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13232" y="3538727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latin typeface="Aptos" panose="020B0004020202020204" pitchFamily="34" charset="0"/>
              </a:rPr>
              <a:t>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584448"/>
            <a:ext cx="224028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>
                <a:latin typeface="Aptos" panose="020B0004020202020204" pitchFamily="34" charset="0"/>
              </a:rPr>
              <a:t>Alerting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575303"/>
            <a:ext cx="333756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>
                <a:latin typeface="Aptos" panose="020B0004020202020204" pitchFamily="34" charset="0"/>
              </a:rPr>
              <a:t>No proactive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575303"/>
            <a:ext cx="34290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 panose="020B0004020202020204" pitchFamily="34" charset="0"/>
              </a:rPr>
              <a:t>Automated notifications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950208"/>
            <a:ext cx="10972800" cy="530352"/>
          </a:xfrm>
          <a:prstGeom prst="rect">
            <a:avLst/>
          </a:prstGeom>
          <a:solidFill>
            <a:srgbClr val="F8FBFA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" panose="020B0004020202020204" pitchFamily="34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13232" y="4069080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latin typeface="Aptos" panose="020B0004020202020204" pitchFamily="34" charset="0"/>
              </a:rPr>
              <a:t>RG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114800"/>
            <a:ext cx="224028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>
                <a:latin typeface="Aptos" panose="020B0004020202020204" pitchFamily="34" charset="0"/>
              </a:rPr>
              <a:t>Report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105656"/>
            <a:ext cx="333756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>
                <a:latin typeface="Aptos" panose="020B0004020202020204" pitchFamily="34" charset="0"/>
              </a:rPr>
              <a:t>Manual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105656"/>
            <a:ext cx="34290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236163"/>
                </a:solidFill>
                <a:latin typeface="Aptos" panose="020B0004020202020204" pitchFamily="34" charset="0"/>
              </a:defRPr>
            </a:lvl1pPr>
          </a:lstStyle>
          <a:p>
            <a:r>
              <a:rPr dirty="0" err="1"/>
              <a:t>Groq</a:t>
            </a:r>
            <a:r>
              <a:rPr dirty="0"/>
              <a:t> AI-generated summaries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480560"/>
            <a:ext cx="10972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" panose="020B0004020202020204" pitchFamily="34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13232" y="4599432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latin typeface="Aptos" panose="020B0004020202020204" pitchFamily="34" charset="0"/>
              </a:rPr>
              <a:t>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645152"/>
            <a:ext cx="224028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>
                <a:latin typeface="Aptos" panose="020B0004020202020204" pitchFamily="34" charset="0"/>
              </a:rPr>
              <a:t>Efficiency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636008"/>
            <a:ext cx="333756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>
                <a:latin typeface="Aptos" panose="020B0004020202020204" pitchFamily="34" charset="0"/>
              </a:rPr>
              <a:t>Time-consuming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4636008"/>
            <a:ext cx="34290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 dirty="0">
                <a:solidFill>
                  <a:srgbClr val="236163"/>
                </a:solidFill>
                <a:latin typeface="Aptos" panose="020B0004020202020204" pitchFamily="34" charset="0"/>
              </a:rPr>
              <a:t>Continuous monitoring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010912"/>
            <a:ext cx="10972800" cy="530352"/>
          </a:xfrm>
          <a:prstGeom prst="rect">
            <a:avLst/>
          </a:prstGeom>
          <a:solidFill>
            <a:srgbClr val="F8FBFA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" panose="020B0004020202020204" pitchFamily="34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713232" y="5129783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dirty="0">
                <a:latin typeface="Aptos" panose="020B0004020202020204" pitchFamily="34" charset="0"/>
              </a:rPr>
              <a:t>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175503"/>
            <a:ext cx="224028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>
                <a:latin typeface="Aptos" panose="020B0004020202020204" pitchFamily="34" charset="0"/>
              </a:rPr>
              <a:t>Opportunity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166359"/>
            <a:ext cx="333756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>
                <a:latin typeface="Aptos" panose="020B0004020202020204" pitchFamily="34" charset="0"/>
              </a:rPr>
              <a:t>Unstructured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5166359"/>
            <a:ext cx="34290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236163"/>
                </a:solidFill>
                <a:latin typeface="Aptos" panose="020B0004020202020204" pitchFamily="34" charset="0"/>
              </a:defRPr>
            </a:lvl1pPr>
          </a:lstStyle>
          <a:p>
            <a:r>
              <a:rPr dirty="0"/>
              <a:t>Google Sheets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800" b="1" dirty="0">
                <a:latin typeface="Aptos" panose="020B0004020202020204" pitchFamily="34" charset="0"/>
              </a:rPr>
              <a:t>Objectives</a:t>
            </a:r>
            <a:endParaRPr b="1" dirty="0">
              <a:latin typeface="Aptos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4837176" cy="3913632"/>
          </a:xfrm>
          <a:prstGeom prst="roundRect">
            <a:avLst/>
          </a:prstGeom>
          <a:solidFill>
            <a:srgbClr val="ECF5F3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3271" y="1627632"/>
            <a:ext cx="40233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b="1" dirty="0">
                <a:solidFill>
                  <a:srgbClr val="236163"/>
                </a:solidFill>
                <a:latin typeface="Aptos" panose="020B0004020202020204" pitchFamily="34" charset="0"/>
              </a:rPr>
              <a:t>Functional Objectives</a:t>
            </a:r>
          </a:p>
        </p:txBody>
      </p:sp>
      <p:sp>
        <p:nvSpPr>
          <p:cNvPr id="6" name="Oval 5"/>
          <p:cNvSpPr/>
          <p:nvPr/>
        </p:nvSpPr>
        <p:spPr>
          <a:xfrm>
            <a:off x="4937759" y="1572768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dirty="0">
                <a:latin typeface="Aptos" panose="020B0004020202020204" pitchFamily="34" charset="0"/>
              </a:rPr>
              <a:t>A</a:t>
            </a:r>
            <a:r>
              <a:rPr lang="en-IN" sz="1100" dirty="0">
                <a:latin typeface="Aptos" panose="020B0004020202020204" pitchFamily="34" charset="0"/>
              </a:rPr>
              <a:t>   </a:t>
            </a:r>
            <a:r>
              <a:rPr sz="1100" dirty="0">
                <a:latin typeface="Aptos" panose="020B0004020202020204" pitchFamily="34" charset="0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139696"/>
            <a:ext cx="3904488" cy="1815882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Monitor property listings from dashboard searches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Retrieve property listings from Realtor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Analyze listing details with </a:t>
            </a:r>
            <a:r>
              <a:rPr sz="1600" dirty="0" err="1"/>
              <a:t>Groq</a:t>
            </a:r>
            <a:r>
              <a:rPr sz="1600" dirty="0"/>
              <a:t>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Score investment attractiveness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Send alerts for high-potential listings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4544568" cy="3913632"/>
          </a:xfrm>
          <a:prstGeom prst="roundRect">
            <a:avLst/>
          </a:prstGeom>
          <a:solidFill>
            <a:srgbClr val="ECF5F3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8232" y="1627632"/>
            <a:ext cx="40233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b="1" dirty="0">
                <a:solidFill>
                  <a:srgbClr val="236163"/>
                </a:solidFill>
                <a:latin typeface="Aptos" panose="020B0004020202020204" pitchFamily="34" charset="0"/>
              </a:rPr>
              <a:t>Project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0030968" y="1572768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latin typeface="Aptos" panose="020B0004020202020204" pitchFamily="34" charset="0"/>
              </a:rPr>
              <a:t>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139696"/>
            <a:ext cx="3741928" cy="1815882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Reduce manual listing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Improve opportunity discovery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Support investors and brokers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Create structured Google Sheets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Demonstrate n8n-based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31A7-9CDE-A088-0BAB-C1912C82D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F76591-D91B-8DF6-8027-A182EF26296A}"/>
              </a:ext>
            </a:extLst>
          </p:cNvPr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800" b="1" dirty="0">
                <a:latin typeface="Aptos" panose="020B0004020202020204" pitchFamily="34" charset="0"/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A104EC-DC19-0CF7-547F-041E364CCDB7}"/>
              </a:ext>
            </a:extLst>
          </p:cNvPr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 b="1">
              <a:solidFill>
                <a:srgbClr val="236163"/>
              </a:solidFill>
              <a:latin typeface="Aptos" panose="020B0004020202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B5B931D-CFD8-55FB-315D-A80300C9B1D5}"/>
              </a:ext>
            </a:extLst>
          </p:cNvPr>
          <p:cNvSpPr/>
          <p:nvPr/>
        </p:nvSpPr>
        <p:spPr>
          <a:xfrm>
            <a:off x="4320000" y="1152568"/>
            <a:ext cx="3550000" cy="252000"/>
          </a:xfrm>
          <a:prstGeom prst="roundRect">
            <a:avLst/>
          </a:prstGeom>
          <a:solidFill>
            <a:srgbClr val="1C7A70"/>
          </a:solidFill>
          <a:ln>
            <a:solidFill>
              <a:srgbClr val="236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62ED3-425F-8D09-1368-316668F16DC4}"/>
              </a:ext>
            </a:extLst>
          </p:cNvPr>
          <p:cNvSpPr txBox="1"/>
          <p:nvPr/>
        </p:nvSpPr>
        <p:spPr>
          <a:xfrm>
            <a:off x="4440000" y="1213568"/>
            <a:ext cx="3310000" cy="169277"/>
          </a:xfrm>
          <a:prstGeom prst="rect">
            <a:avLst/>
          </a:prstGeom>
          <a:solidFill>
            <a:srgbClr val="1C7A70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1100" b="1" dirty="0">
                <a:solidFill>
                  <a:schemeClr val="bg1"/>
                </a:solidFill>
                <a:latin typeface="Aptos" panose="020B0004020202020204" pitchFamily="34" charset="0"/>
              </a:rPr>
              <a:t>User / Investor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1B536054-6E05-D72F-99B8-86BB15D94AE0}"/>
              </a:ext>
            </a:extLst>
          </p:cNvPr>
          <p:cNvSpPr/>
          <p:nvPr/>
        </p:nvSpPr>
        <p:spPr>
          <a:xfrm>
            <a:off x="6000000" y="1454280"/>
            <a:ext cx="190000" cy="180000"/>
          </a:xfrm>
          <a:prstGeom prst="down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F72B1F-2D6D-ACA8-34D9-A04922731422}"/>
              </a:ext>
            </a:extLst>
          </p:cNvPr>
          <p:cNvSpPr/>
          <p:nvPr/>
        </p:nvSpPr>
        <p:spPr>
          <a:xfrm>
            <a:off x="4320000" y="1653560"/>
            <a:ext cx="3550000" cy="252000"/>
          </a:xfrm>
          <a:prstGeom prst="roundRect">
            <a:avLst/>
          </a:prstGeom>
          <a:solidFill>
            <a:srgbClr val="ECF5F3"/>
          </a:solidFill>
          <a:ln>
            <a:solidFill>
              <a:srgbClr val="236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48D28-DD50-2EF8-68F9-652250E9BF5A}"/>
              </a:ext>
            </a:extLst>
          </p:cNvPr>
          <p:cNvSpPr txBox="1"/>
          <p:nvPr/>
        </p:nvSpPr>
        <p:spPr>
          <a:xfrm>
            <a:off x="4440000" y="1714560"/>
            <a:ext cx="331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 err="1">
                <a:solidFill>
                  <a:srgbClr val="236163"/>
                </a:solidFill>
                <a:latin typeface="Aptos"/>
              </a:rPr>
              <a:t>Streamlit</a:t>
            </a:r>
            <a:r>
              <a:rPr sz="1100" b="1" dirty="0">
                <a:solidFill>
                  <a:srgbClr val="236163"/>
                </a:solidFill>
                <a:latin typeface="Aptos"/>
              </a:rPr>
              <a:t> Dashboard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2B9E1B12-721B-0178-50E9-BAC5FC65DFF4}"/>
              </a:ext>
            </a:extLst>
          </p:cNvPr>
          <p:cNvSpPr/>
          <p:nvPr/>
        </p:nvSpPr>
        <p:spPr>
          <a:xfrm>
            <a:off x="6000000" y="1964416"/>
            <a:ext cx="190000" cy="180000"/>
          </a:xfrm>
          <a:prstGeom prst="down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AE326F5-E6D4-7156-50CA-877062E09A31}"/>
              </a:ext>
            </a:extLst>
          </p:cNvPr>
          <p:cNvSpPr/>
          <p:nvPr/>
        </p:nvSpPr>
        <p:spPr>
          <a:xfrm>
            <a:off x="4320000" y="2172840"/>
            <a:ext cx="3550000" cy="252000"/>
          </a:xfrm>
          <a:prstGeom prst="roundRect">
            <a:avLst/>
          </a:prstGeom>
          <a:solidFill>
            <a:srgbClr val="ECF5F3"/>
          </a:solidFill>
          <a:ln>
            <a:solidFill>
              <a:srgbClr val="236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E6437-65B1-A5B2-4D32-9D98B211092E}"/>
              </a:ext>
            </a:extLst>
          </p:cNvPr>
          <p:cNvSpPr txBox="1"/>
          <p:nvPr/>
        </p:nvSpPr>
        <p:spPr>
          <a:xfrm>
            <a:off x="4440000" y="2233840"/>
            <a:ext cx="331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236163"/>
                </a:solidFill>
                <a:latin typeface="Aptos"/>
              </a:rPr>
              <a:t>n8n Workflow Engine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1A4BF399-05D2-019B-1D55-58ECDA88E19E}"/>
              </a:ext>
            </a:extLst>
          </p:cNvPr>
          <p:cNvSpPr/>
          <p:nvPr/>
        </p:nvSpPr>
        <p:spPr>
          <a:xfrm>
            <a:off x="6000000" y="2474552"/>
            <a:ext cx="190000" cy="180000"/>
          </a:xfrm>
          <a:prstGeom prst="down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5DB4FB1-F804-DC6A-1F8C-8CBE78386CCA}"/>
              </a:ext>
            </a:extLst>
          </p:cNvPr>
          <p:cNvSpPr/>
          <p:nvPr/>
        </p:nvSpPr>
        <p:spPr>
          <a:xfrm>
            <a:off x="4320000" y="2692120"/>
            <a:ext cx="3550000" cy="252000"/>
          </a:xfrm>
          <a:prstGeom prst="roundRect">
            <a:avLst/>
          </a:prstGeom>
          <a:solidFill>
            <a:srgbClr val="ECF5F3"/>
          </a:solidFill>
          <a:ln>
            <a:solidFill>
              <a:srgbClr val="236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83886E-8EC7-42F5-8518-D14BC3F31113}"/>
              </a:ext>
            </a:extLst>
          </p:cNvPr>
          <p:cNvSpPr txBox="1"/>
          <p:nvPr/>
        </p:nvSpPr>
        <p:spPr>
          <a:xfrm>
            <a:off x="4440000" y="2753120"/>
            <a:ext cx="331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6163"/>
                </a:solidFill>
                <a:latin typeface="Aptos"/>
              </a:rPr>
              <a:t>Realtor API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5E1F02B7-81A6-16F1-0493-8493BE5A334D}"/>
              </a:ext>
            </a:extLst>
          </p:cNvPr>
          <p:cNvSpPr/>
          <p:nvPr/>
        </p:nvSpPr>
        <p:spPr>
          <a:xfrm>
            <a:off x="6000000" y="3012120"/>
            <a:ext cx="190000" cy="180000"/>
          </a:xfrm>
          <a:prstGeom prst="down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774F141-42AC-606E-6B32-A157EA12B17B}"/>
              </a:ext>
            </a:extLst>
          </p:cNvPr>
          <p:cNvSpPr/>
          <p:nvPr/>
        </p:nvSpPr>
        <p:spPr>
          <a:xfrm>
            <a:off x="4320000" y="3229688"/>
            <a:ext cx="3550000" cy="252000"/>
          </a:xfrm>
          <a:prstGeom prst="roundRect">
            <a:avLst/>
          </a:prstGeom>
          <a:solidFill>
            <a:srgbClr val="ECF5F3"/>
          </a:solidFill>
          <a:ln>
            <a:solidFill>
              <a:srgbClr val="236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7F5DA-BC0F-F5E6-D5A4-BB41FA48A848}"/>
              </a:ext>
            </a:extLst>
          </p:cNvPr>
          <p:cNvSpPr txBox="1"/>
          <p:nvPr/>
        </p:nvSpPr>
        <p:spPr>
          <a:xfrm>
            <a:off x="4440000" y="3290688"/>
            <a:ext cx="331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6163"/>
                </a:solidFill>
                <a:latin typeface="Aptos"/>
              </a:rPr>
              <a:t>Property Data Cleaning</a:t>
            </a: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7E69C77D-3F67-CBE5-5BBD-BCE5E37D92B9}"/>
              </a:ext>
            </a:extLst>
          </p:cNvPr>
          <p:cNvSpPr/>
          <p:nvPr/>
        </p:nvSpPr>
        <p:spPr>
          <a:xfrm>
            <a:off x="6000000" y="3540544"/>
            <a:ext cx="190000" cy="180000"/>
          </a:xfrm>
          <a:prstGeom prst="down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5B25938-9F30-67FA-4CAD-BF989D8F7424}"/>
              </a:ext>
            </a:extLst>
          </p:cNvPr>
          <p:cNvSpPr/>
          <p:nvPr/>
        </p:nvSpPr>
        <p:spPr>
          <a:xfrm>
            <a:off x="4320000" y="3748968"/>
            <a:ext cx="3550000" cy="252000"/>
          </a:xfrm>
          <a:prstGeom prst="roundRect">
            <a:avLst/>
          </a:prstGeom>
          <a:solidFill>
            <a:srgbClr val="ECF5F3"/>
          </a:solidFill>
          <a:ln>
            <a:solidFill>
              <a:srgbClr val="236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A79040-3E61-F424-CE3C-B2E84AF6F390}"/>
              </a:ext>
            </a:extLst>
          </p:cNvPr>
          <p:cNvSpPr txBox="1"/>
          <p:nvPr/>
        </p:nvSpPr>
        <p:spPr>
          <a:xfrm>
            <a:off x="4440000" y="3809968"/>
            <a:ext cx="331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6163"/>
                </a:solidFill>
                <a:latin typeface="Aptos"/>
              </a:rPr>
              <a:t>Property Mapping</a:t>
            </a:r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7B96EB8E-FE9B-149C-C22C-01F3D884D99E}"/>
              </a:ext>
            </a:extLst>
          </p:cNvPr>
          <p:cNvSpPr/>
          <p:nvPr/>
        </p:nvSpPr>
        <p:spPr>
          <a:xfrm>
            <a:off x="6000000" y="4078112"/>
            <a:ext cx="190000" cy="180000"/>
          </a:xfrm>
          <a:prstGeom prst="down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402F424-399B-F8B2-FC7B-A334C0D518B6}"/>
              </a:ext>
            </a:extLst>
          </p:cNvPr>
          <p:cNvSpPr/>
          <p:nvPr/>
        </p:nvSpPr>
        <p:spPr>
          <a:xfrm>
            <a:off x="4320000" y="4304824"/>
            <a:ext cx="3550000" cy="252000"/>
          </a:xfrm>
          <a:prstGeom prst="roundRect">
            <a:avLst/>
          </a:prstGeom>
          <a:solidFill>
            <a:srgbClr val="ECF5F3"/>
          </a:solidFill>
          <a:ln>
            <a:solidFill>
              <a:srgbClr val="236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D40A5D-2699-E448-00F5-598B541E1C6B}"/>
              </a:ext>
            </a:extLst>
          </p:cNvPr>
          <p:cNvSpPr txBox="1"/>
          <p:nvPr/>
        </p:nvSpPr>
        <p:spPr>
          <a:xfrm>
            <a:off x="4440000" y="4365824"/>
            <a:ext cx="331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236163"/>
                </a:solidFill>
                <a:latin typeface="Aptos"/>
              </a:rPr>
              <a:t>Investment Scoring Engine</a:t>
            </a:r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55C53E50-7F27-6661-878B-E4B6BD5A892F}"/>
              </a:ext>
            </a:extLst>
          </p:cNvPr>
          <p:cNvSpPr/>
          <p:nvPr/>
        </p:nvSpPr>
        <p:spPr>
          <a:xfrm>
            <a:off x="6000000" y="4606536"/>
            <a:ext cx="190000" cy="180000"/>
          </a:xfrm>
          <a:prstGeom prst="down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E0C608F-EF55-C4FD-7D55-0FF3002009CD}"/>
              </a:ext>
            </a:extLst>
          </p:cNvPr>
          <p:cNvSpPr/>
          <p:nvPr/>
        </p:nvSpPr>
        <p:spPr>
          <a:xfrm>
            <a:off x="4320000" y="4824104"/>
            <a:ext cx="3550000" cy="252000"/>
          </a:xfrm>
          <a:prstGeom prst="roundRect">
            <a:avLst/>
          </a:prstGeom>
          <a:solidFill>
            <a:srgbClr val="ECF5F3"/>
          </a:solidFill>
          <a:ln>
            <a:solidFill>
              <a:srgbClr val="236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8D011F-0542-70A7-3330-D9DF44C86C70}"/>
              </a:ext>
            </a:extLst>
          </p:cNvPr>
          <p:cNvSpPr txBox="1"/>
          <p:nvPr/>
        </p:nvSpPr>
        <p:spPr>
          <a:xfrm>
            <a:off x="4440000" y="4885104"/>
            <a:ext cx="331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 err="1">
                <a:solidFill>
                  <a:srgbClr val="236163"/>
                </a:solidFill>
                <a:latin typeface="Aptos"/>
              </a:rPr>
              <a:t>Groq</a:t>
            </a:r>
            <a:r>
              <a:rPr sz="1100" b="1" dirty="0">
                <a:solidFill>
                  <a:srgbClr val="236163"/>
                </a:solidFill>
                <a:latin typeface="Aptos"/>
              </a:rPr>
              <a:t> AI Analysis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698BC435-2ED9-1C84-B21F-7E4B3152A4BC}"/>
              </a:ext>
            </a:extLst>
          </p:cNvPr>
          <p:cNvSpPr/>
          <p:nvPr/>
        </p:nvSpPr>
        <p:spPr>
          <a:xfrm>
            <a:off x="6000000" y="5125816"/>
            <a:ext cx="190000" cy="180000"/>
          </a:xfrm>
          <a:prstGeom prst="down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A9B5C4F-F0DE-3110-68C9-66D25406A1C8}"/>
              </a:ext>
            </a:extLst>
          </p:cNvPr>
          <p:cNvSpPr/>
          <p:nvPr/>
        </p:nvSpPr>
        <p:spPr>
          <a:xfrm>
            <a:off x="4320000" y="5343384"/>
            <a:ext cx="3550000" cy="252000"/>
          </a:xfrm>
          <a:prstGeom prst="roundRect">
            <a:avLst/>
          </a:prstGeom>
          <a:solidFill>
            <a:srgbClr val="ECF5F3"/>
          </a:solidFill>
          <a:ln>
            <a:solidFill>
              <a:srgbClr val="236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3A20CA-90EE-D13C-70BD-52F7159476C2}"/>
              </a:ext>
            </a:extLst>
          </p:cNvPr>
          <p:cNvSpPr txBox="1"/>
          <p:nvPr/>
        </p:nvSpPr>
        <p:spPr>
          <a:xfrm>
            <a:off x="4440000" y="5404384"/>
            <a:ext cx="331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6163"/>
                </a:solidFill>
                <a:latin typeface="Aptos"/>
              </a:rPr>
              <a:t>Telegram Notification</a:t>
            </a:r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7916AECF-42CB-358F-5A50-7B7876774AB2}"/>
              </a:ext>
            </a:extLst>
          </p:cNvPr>
          <p:cNvSpPr/>
          <p:nvPr/>
        </p:nvSpPr>
        <p:spPr>
          <a:xfrm>
            <a:off x="6000000" y="5654240"/>
            <a:ext cx="190000" cy="180000"/>
          </a:xfrm>
          <a:prstGeom prst="down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1B3D38E-8894-BC65-C51B-BA584FE5258C}"/>
              </a:ext>
            </a:extLst>
          </p:cNvPr>
          <p:cNvSpPr/>
          <p:nvPr/>
        </p:nvSpPr>
        <p:spPr>
          <a:xfrm>
            <a:off x="4320000" y="5871808"/>
            <a:ext cx="3550000" cy="252000"/>
          </a:xfrm>
          <a:prstGeom prst="roundRect">
            <a:avLst/>
          </a:prstGeom>
          <a:solidFill>
            <a:srgbClr val="236163"/>
          </a:solidFill>
          <a:ln>
            <a:solidFill>
              <a:srgbClr val="236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836BB8-FBEC-E257-E2A4-5C5F6C6866DA}"/>
              </a:ext>
            </a:extLst>
          </p:cNvPr>
          <p:cNvSpPr txBox="1"/>
          <p:nvPr/>
        </p:nvSpPr>
        <p:spPr>
          <a:xfrm>
            <a:off x="4440000" y="5932808"/>
            <a:ext cx="331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>
                <a:solidFill>
                  <a:schemeClr val="bg1"/>
                </a:solidFill>
                <a:latin typeface="Aptos"/>
              </a:rPr>
              <a:t>Google Sheets Storage</a:t>
            </a:r>
          </a:p>
        </p:txBody>
      </p:sp>
    </p:spTree>
    <p:extLst>
      <p:ext uri="{BB962C8B-B14F-4D97-AF65-F5344CB8AC3E}">
        <p14:creationId xmlns:p14="http://schemas.microsoft.com/office/powerpoint/2010/main" val="662544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C8D4A-3801-BEFB-FA8C-8CDCB920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DBB74F49-1382-4ADF-663D-B54F5C6D600E}"/>
              </a:ext>
            </a:extLst>
          </p:cNvPr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800" b="1" dirty="0">
                <a:latin typeface="Aptos" panose="020B0004020202020204" pitchFamily="34" charset="0"/>
              </a:rPr>
              <a:t>Agentic AI Workflow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1B1DD5-4BC9-CDF5-30D3-94A775333BCF}"/>
              </a:ext>
            </a:extLst>
          </p:cNvPr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4" name="Rounded Rectangle 3">
            <a:extLst>
              <a:ext uri="{FF2B5EF4-FFF2-40B4-BE49-F238E27FC236}">
                <a16:creationId xmlns:a16="http://schemas.microsoft.com/office/drawing/2014/main" id="{E521F2B9-3E3F-76EC-A8DB-08767716B069}"/>
              </a:ext>
            </a:extLst>
          </p:cNvPr>
          <p:cNvSpPr/>
          <p:nvPr/>
        </p:nvSpPr>
        <p:spPr>
          <a:xfrm>
            <a:off x="594360" y="1755648"/>
            <a:ext cx="1783080" cy="868680"/>
          </a:xfrm>
          <a:prstGeom prst="roundRect">
            <a:avLst/>
          </a:prstGeom>
          <a:solidFill>
            <a:srgbClr val="1C7A70"/>
          </a:solidFill>
          <a:ln>
            <a:solidFill>
              <a:srgbClr val="1C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r>
              <a:rPr sz="1200" b="1" dirty="0">
                <a:solidFill>
                  <a:schemeClr val="bg1"/>
                </a:solidFill>
                <a:latin typeface="Aptos" panose="020B0004020202020204" pitchFamily="34" charset="0"/>
              </a:rPr>
              <a:t>Listing Collection Agent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867B942-5516-72B9-2428-10E0D5966B15}"/>
              </a:ext>
            </a:extLst>
          </p:cNvPr>
          <p:cNvSpPr/>
          <p:nvPr/>
        </p:nvSpPr>
        <p:spPr>
          <a:xfrm>
            <a:off x="667512" y="1591056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8" name="Right Arrow 5">
            <a:extLst>
              <a:ext uri="{FF2B5EF4-FFF2-40B4-BE49-F238E27FC236}">
                <a16:creationId xmlns:a16="http://schemas.microsoft.com/office/drawing/2014/main" id="{D69AE0BE-EB25-0015-E519-CE59C6A57A8B}"/>
              </a:ext>
            </a:extLst>
          </p:cNvPr>
          <p:cNvSpPr/>
          <p:nvPr/>
        </p:nvSpPr>
        <p:spPr>
          <a:xfrm>
            <a:off x="2487168" y="2066543"/>
            <a:ext cx="384048" cy="219456"/>
          </a:xfrm>
          <a:prstGeom prst="right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>
              <a:solidFill>
                <a:srgbClr val="236163"/>
              </a:solidFill>
              <a:latin typeface="Aptos" panose="020B0004020202020204" pitchFamily="34" charset="0"/>
            </a:endParaRPr>
          </a:p>
        </p:txBody>
      </p:sp>
      <p:sp>
        <p:nvSpPr>
          <p:cNvPr id="40" name="Rounded Rectangle 6">
            <a:extLst>
              <a:ext uri="{FF2B5EF4-FFF2-40B4-BE49-F238E27FC236}">
                <a16:creationId xmlns:a16="http://schemas.microsoft.com/office/drawing/2014/main" id="{D99F21DC-443B-A2D3-80DE-5140C1592ED9}"/>
              </a:ext>
            </a:extLst>
          </p:cNvPr>
          <p:cNvSpPr/>
          <p:nvPr/>
        </p:nvSpPr>
        <p:spPr>
          <a:xfrm>
            <a:off x="2862072" y="1755648"/>
            <a:ext cx="1783080" cy="868680"/>
          </a:xfrm>
          <a:prstGeom prst="roundRect">
            <a:avLst/>
          </a:prstGeom>
          <a:solidFill>
            <a:srgbClr val="ECF5F3"/>
          </a:solidFill>
          <a:ln>
            <a:solidFill>
              <a:srgbClr val="1C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r>
              <a:rPr sz="1200" b="1" dirty="0">
                <a:solidFill>
                  <a:srgbClr val="236163"/>
                </a:solidFill>
                <a:latin typeface="Aptos" panose="020B0004020202020204" pitchFamily="34" charset="0"/>
              </a:rPr>
              <a:t>Investment Scoring Agent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6B2FD87-BCBE-8A85-7C36-46456ADE2FC9}"/>
              </a:ext>
            </a:extLst>
          </p:cNvPr>
          <p:cNvSpPr/>
          <p:nvPr/>
        </p:nvSpPr>
        <p:spPr>
          <a:xfrm>
            <a:off x="2935224" y="1591056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4" name="Right Arrow 8">
            <a:extLst>
              <a:ext uri="{FF2B5EF4-FFF2-40B4-BE49-F238E27FC236}">
                <a16:creationId xmlns:a16="http://schemas.microsoft.com/office/drawing/2014/main" id="{40846661-31B7-3F0C-9B94-1DB881C7ABE5}"/>
              </a:ext>
            </a:extLst>
          </p:cNvPr>
          <p:cNvSpPr/>
          <p:nvPr/>
        </p:nvSpPr>
        <p:spPr>
          <a:xfrm>
            <a:off x="4754880" y="2066543"/>
            <a:ext cx="384048" cy="219456"/>
          </a:xfrm>
          <a:prstGeom prst="right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>
              <a:solidFill>
                <a:srgbClr val="236163"/>
              </a:solidFill>
              <a:latin typeface="Aptos" panose="020B0004020202020204" pitchFamily="34" charset="0"/>
            </a:endParaRPr>
          </a:p>
        </p:txBody>
      </p:sp>
      <p:sp>
        <p:nvSpPr>
          <p:cNvPr id="46" name="Rounded Rectangle 9">
            <a:extLst>
              <a:ext uri="{FF2B5EF4-FFF2-40B4-BE49-F238E27FC236}">
                <a16:creationId xmlns:a16="http://schemas.microsoft.com/office/drawing/2014/main" id="{022A7567-8BB5-58CC-0A72-65780AC43DD7}"/>
              </a:ext>
            </a:extLst>
          </p:cNvPr>
          <p:cNvSpPr/>
          <p:nvPr/>
        </p:nvSpPr>
        <p:spPr>
          <a:xfrm>
            <a:off x="5129784" y="1755648"/>
            <a:ext cx="1783080" cy="868680"/>
          </a:xfrm>
          <a:prstGeom prst="roundRect">
            <a:avLst/>
          </a:prstGeom>
          <a:solidFill>
            <a:srgbClr val="ECF5F3"/>
          </a:solidFill>
          <a:ln>
            <a:solidFill>
              <a:srgbClr val="1C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r>
              <a:rPr lang="en-IN" sz="1200" b="1" dirty="0">
                <a:solidFill>
                  <a:srgbClr val="236163"/>
                </a:solidFill>
                <a:latin typeface="Aptos"/>
              </a:rPr>
              <a:t>AI Analysis Agent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A3B5AFD-C834-89C9-A7AF-014CB121A13E}"/>
              </a:ext>
            </a:extLst>
          </p:cNvPr>
          <p:cNvSpPr/>
          <p:nvPr/>
        </p:nvSpPr>
        <p:spPr>
          <a:xfrm>
            <a:off x="5202936" y="1591056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0" name="Right Arrow 11">
            <a:extLst>
              <a:ext uri="{FF2B5EF4-FFF2-40B4-BE49-F238E27FC236}">
                <a16:creationId xmlns:a16="http://schemas.microsoft.com/office/drawing/2014/main" id="{F77387BE-1FB2-52E2-B34D-D551521AEC61}"/>
              </a:ext>
            </a:extLst>
          </p:cNvPr>
          <p:cNvSpPr/>
          <p:nvPr/>
        </p:nvSpPr>
        <p:spPr>
          <a:xfrm>
            <a:off x="7022592" y="2066543"/>
            <a:ext cx="384048" cy="219456"/>
          </a:xfrm>
          <a:prstGeom prst="right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>
              <a:solidFill>
                <a:srgbClr val="236163"/>
              </a:solidFill>
              <a:latin typeface="Aptos" panose="020B0004020202020204" pitchFamily="34" charset="0"/>
            </a:endParaRPr>
          </a:p>
        </p:txBody>
      </p:sp>
      <p:sp>
        <p:nvSpPr>
          <p:cNvPr id="52" name="Rounded Rectangle 12">
            <a:extLst>
              <a:ext uri="{FF2B5EF4-FFF2-40B4-BE49-F238E27FC236}">
                <a16:creationId xmlns:a16="http://schemas.microsoft.com/office/drawing/2014/main" id="{1C390251-1485-F7F3-59B9-BE222A91F8DC}"/>
              </a:ext>
            </a:extLst>
          </p:cNvPr>
          <p:cNvSpPr/>
          <p:nvPr/>
        </p:nvSpPr>
        <p:spPr>
          <a:xfrm>
            <a:off x="7397496" y="1755648"/>
            <a:ext cx="1783080" cy="868680"/>
          </a:xfrm>
          <a:prstGeom prst="roundRect">
            <a:avLst/>
          </a:prstGeom>
          <a:solidFill>
            <a:srgbClr val="ECF5F3"/>
          </a:solidFill>
          <a:ln>
            <a:solidFill>
              <a:srgbClr val="1C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r>
              <a:rPr lang="en-IN" sz="1200" b="1" dirty="0">
                <a:solidFill>
                  <a:srgbClr val="236163"/>
                </a:solidFill>
                <a:latin typeface="Aptos"/>
              </a:rPr>
              <a:t>Alert Agent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1E51FF1-170F-F5DE-EF6D-4FBA4DFF322D}"/>
              </a:ext>
            </a:extLst>
          </p:cNvPr>
          <p:cNvSpPr/>
          <p:nvPr/>
        </p:nvSpPr>
        <p:spPr>
          <a:xfrm>
            <a:off x="7470648" y="1591056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6" name="Right Arrow 14">
            <a:extLst>
              <a:ext uri="{FF2B5EF4-FFF2-40B4-BE49-F238E27FC236}">
                <a16:creationId xmlns:a16="http://schemas.microsoft.com/office/drawing/2014/main" id="{CA1D797E-058C-DA0F-A72E-291C9F6C0F88}"/>
              </a:ext>
            </a:extLst>
          </p:cNvPr>
          <p:cNvSpPr/>
          <p:nvPr/>
        </p:nvSpPr>
        <p:spPr>
          <a:xfrm>
            <a:off x="9290303" y="2066543"/>
            <a:ext cx="384048" cy="219456"/>
          </a:xfrm>
          <a:prstGeom prst="rightArrow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>
              <a:solidFill>
                <a:srgbClr val="236163"/>
              </a:solidFill>
              <a:latin typeface="Aptos" panose="020B0004020202020204" pitchFamily="34" charset="0"/>
            </a:endParaRPr>
          </a:p>
        </p:txBody>
      </p:sp>
      <p:sp>
        <p:nvSpPr>
          <p:cNvPr id="58" name="Rounded Rectangle 15">
            <a:extLst>
              <a:ext uri="{FF2B5EF4-FFF2-40B4-BE49-F238E27FC236}">
                <a16:creationId xmlns:a16="http://schemas.microsoft.com/office/drawing/2014/main" id="{15300331-AFF6-7035-DD4F-9AEAC93F4D67}"/>
              </a:ext>
            </a:extLst>
          </p:cNvPr>
          <p:cNvSpPr/>
          <p:nvPr/>
        </p:nvSpPr>
        <p:spPr>
          <a:xfrm>
            <a:off x="9665208" y="1755648"/>
            <a:ext cx="1783080" cy="868680"/>
          </a:xfrm>
          <a:prstGeom prst="roundRect">
            <a:avLst/>
          </a:prstGeom>
          <a:solidFill>
            <a:srgbClr val="ECF5F3"/>
          </a:solidFill>
          <a:ln>
            <a:solidFill>
              <a:srgbClr val="1C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r>
              <a:rPr lang="en-IN" sz="1200" b="1" dirty="0">
                <a:solidFill>
                  <a:srgbClr val="236163"/>
                </a:solidFill>
                <a:latin typeface="Aptos"/>
              </a:rPr>
              <a:t>Storage Agent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67A28DB-D413-D648-D8EB-E32AF5F57799}"/>
              </a:ext>
            </a:extLst>
          </p:cNvPr>
          <p:cNvSpPr/>
          <p:nvPr/>
        </p:nvSpPr>
        <p:spPr>
          <a:xfrm>
            <a:off x="9738360" y="1591056"/>
            <a:ext cx="384048" cy="384048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166DE6-91C6-3B47-1BC7-F72DBCA4DDAA}"/>
              </a:ext>
            </a:extLst>
          </p:cNvPr>
          <p:cNvSpPr txBox="1"/>
          <p:nvPr/>
        </p:nvSpPr>
        <p:spPr>
          <a:xfrm>
            <a:off x="914400" y="3154680"/>
            <a:ext cx="10058400" cy="92333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Aptos" panose="020B0004020202020204" pitchFamily="34" charset="0"/>
              </a:rPr>
              <a:t>Agents collect new listings, analyze price and location signals, and assign an opportunity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Aptos" panose="020B0004020202020204" pitchFamily="34" charset="0"/>
              </a:rPr>
              <a:t>Only high-potential listings pass the alert threshold.</a:t>
            </a:r>
            <a:endParaRPr lang="en-IN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High-potential properties are routed to Telegram alerts and Google Sheets logging.</a:t>
            </a:r>
          </a:p>
        </p:txBody>
      </p:sp>
    </p:spTree>
    <p:extLst>
      <p:ext uri="{BB962C8B-B14F-4D97-AF65-F5344CB8AC3E}">
        <p14:creationId xmlns:p14="http://schemas.microsoft.com/office/powerpoint/2010/main" val="3230587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800" b="1" dirty="0">
                <a:latin typeface="Aptos" panose="020B0004020202020204" pitchFamily="34" charset="0"/>
              </a:rPr>
              <a:t>n8n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00000" y="1141388"/>
            <a:ext cx="10350000" cy="4662004"/>
          </a:xfrm>
          <a:prstGeom prst="roundRect">
            <a:avLst/>
          </a:prstGeom>
          <a:solidFill>
            <a:srgbClr val="FFFFFF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38240"/>
            <a:ext cx="9662160" cy="44275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31760"/>
            <a:ext cx="100584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696969"/>
                </a:solidFill>
                <a:latin typeface="Aptos"/>
              </a:rPr>
              <a:t>The implemented workflow orchestrates data retrieval, scoring, AI analysis, notifications, and storage.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800" b="1" dirty="0">
                <a:latin typeface="Aptos" panose="020B0004020202020204" pitchFamily="34" charset="0"/>
              </a:rPr>
              <a:t>Property Analysis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5614416" cy="20108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200">
                <a:solidFill>
                  <a:srgbClr val="232323"/>
                </a:solidFill>
                <a:latin typeface="Aptos"/>
              </a:defRPr>
            </a:pPr>
            <a:r>
              <a:rPr lang="en-US" sz="2000" dirty="0"/>
              <a:t>Property Type Identification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200">
                <a:solidFill>
                  <a:srgbClr val="232323"/>
                </a:solidFill>
                <a:latin typeface="Aptos"/>
              </a:defRPr>
            </a:pPr>
            <a:r>
              <a:rPr lang="en-US" sz="2000" dirty="0"/>
              <a:t>Price Evaluation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200">
                <a:solidFill>
                  <a:srgbClr val="232323"/>
                </a:solidFill>
                <a:latin typeface="Aptos"/>
              </a:defRPr>
            </a:pPr>
            <a:r>
              <a:rPr lang="en-US" sz="2000" dirty="0"/>
              <a:t>Beds &amp; Baths Assessment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200">
                <a:solidFill>
                  <a:srgbClr val="232323"/>
                </a:solidFill>
                <a:latin typeface="Aptos"/>
              </a:defRPr>
            </a:pPr>
            <a:r>
              <a:rPr lang="en-US" sz="2000" dirty="0"/>
              <a:t>Lot Size Analysis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200">
                <a:solidFill>
                  <a:srgbClr val="232323"/>
                </a:solidFill>
                <a:latin typeface="Aptos"/>
              </a:defRPr>
            </a:pPr>
            <a:r>
              <a:rPr lang="en-US" sz="2000" dirty="0"/>
              <a:t>Property Summary Generation</a:t>
            </a:r>
            <a:endParaRPr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800" b="1" dirty="0">
                <a:latin typeface="Aptos" panose="020B0004020202020204" pitchFamily="34" charset="0"/>
              </a:rPr>
              <a:t>Investment Scoring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221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2323"/>
                </a:solidFill>
                <a:latin typeface="Aptos"/>
              </a:rPr>
              <a:t>Actual scoring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232323"/>
                </a:solidFill>
                <a:latin typeface="Aptos"/>
              </a:rPr>
              <a:t>Pric</a:t>
            </a:r>
            <a:r>
              <a:rPr lang="en-IN" sz="1400" b="1" dirty="0">
                <a:solidFill>
                  <a:srgbClr val="232323"/>
                </a:solidFill>
                <a:latin typeface="Aptos"/>
              </a:rPr>
              <a:t>e</a:t>
            </a:r>
            <a:endParaRPr sz="1400" b="1" dirty="0">
              <a:solidFill>
                <a:srgbClr val="232323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46120" y="1719072"/>
            <a:ext cx="2743200" cy="146304"/>
          </a:xfrm>
          <a:prstGeom prst="rect">
            <a:avLst/>
          </a:prstGeom>
          <a:solidFill>
            <a:srgbClr val="C4D2CF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46120" y="1719072"/>
            <a:ext cx="2743200" cy="146304"/>
          </a:xfrm>
          <a:prstGeom prst="rect">
            <a:avLst/>
          </a:prstGeom>
          <a:solidFill>
            <a:srgbClr val="1C7A70"/>
          </a:solidFill>
          <a:ln>
            <a:solidFill>
              <a:srgbClr val="1C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4768" y="1676640"/>
            <a:ext cx="640080" cy="2523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36163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75256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232323"/>
                </a:solidFill>
                <a:latin typeface="Aptos"/>
              </a:rPr>
              <a:t>Bed</a:t>
            </a:r>
            <a:r>
              <a:rPr lang="en-IN" sz="1400" b="1" dirty="0">
                <a:solidFill>
                  <a:srgbClr val="232323"/>
                </a:solidFill>
                <a:latin typeface="Aptos"/>
              </a:rPr>
              <a:t>rooms</a:t>
            </a:r>
            <a:endParaRPr sz="1400" b="1" dirty="0">
              <a:solidFill>
                <a:srgbClr val="232323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46120" y="2202688"/>
            <a:ext cx="2743200" cy="146304"/>
          </a:xfrm>
          <a:prstGeom prst="rect">
            <a:avLst/>
          </a:prstGeom>
          <a:solidFill>
            <a:srgbClr val="C4D2CF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2202688"/>
            <a:ext cx="1837944" cy="146304"/>
          </a:xfrm>
          <a:prstGeom prst="rect">
            <a:avLst/>
          </a:prstGeom>
          <a:solidFill>
            <a:srgbClr val="1C7A70"/>
          </a:solidFill>
          <a:ln>
            <a:solidFill>
              <a:srgbClr val="1C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4768" y="2160256"/>
            <a:ext cx="640080" cy="2523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36163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09672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232323"/>
                </a:solidFill>
                <a:latin typeface="Aptos"/>
              </a:rPr>
              <a:t>Bath</a:t>
            </a:r>
            <a:r>
              <a:rPr lang="en-IN" sz="1400" b="1" dirty="0">
                <a:solidFill>
                  <a:srgbClr val="232323"/>
                </a:solidFill>
                <a:latin typeface="Aptos"/>
              </a:rPr>
              <a:t>rooms</a:t>
            </a:r>
            <a:endParaRPr sz="1400" b="1" dirty="0">
              <a:solidFill>
                <a:srgbClr val="232323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46120" y="2737104"/>
            <a:ext cx="2743200" cy="146304"/>
          </a:xfrm>
          <a:prstGeom prst="rect">
            <a:avLst/>
          </a:prstGeom>
          <a:solidFill>
            <a:srgbClr val="C4D2CF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2737104"/>
            <a:ext cx="1837944" cy="146304"/>
          </a:xfrm>
          <a:prstGeom prst="rect">
            <a:avLst/>
          </a:prstGeom>
          <a:solidFill>
            <a:srgbClr val="1C7A70"/>
          </a:solidFill>
          <a:ln>
            <a:solidFill>
              <a:srgbClr val="1C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4768" y="2694672"/>
            <a:ext cx="640080" cy="2523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36163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23768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232323"/>
                </a:solidFill>
                <a:latin typeface="Aptos"/>
              </a:rPr>
              <a:t>Lot 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251200"/>
            <a:ext cx="2743200" cy="146304"/>
          </a:xfrm>
          <a:prstGeom prst="rect">
            <a:avLst/>
          </a:prstGeom>
          <a:solidFill>
            <a:srgbClr val="C4D2CF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46120" y="3251200"/>
            <a:ext cx="1837944" cy="146304"/>
          </a:xfrm>
          <a:prstGeom prst="rect">
            <a:avLst/>
          </a:prstGeom>
          <a:solidFill>
            <a:srgbClr val="1C7A70"/>
          </a:solidFill>
          <a:ln>
            <a:solidFill>
              <a:srgbClr val="1C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44768" y="3208768"/>
            <a:ext cx="640080" cy="2523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3616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07384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232323"/>
                </a:solidFill>
                <a:latin typeface="Aptos"/>
              </a:rPr>
              <a:t>Property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3734816"/>
            <a:ext cx="2743200" cy="146304"/>
          </a:xfrm>
          <a:prstGeom prst="rect">
            <a:avLst/>
          </a:prstGeom>
          <a:solidFill>
            <a:srgbClr val="C4D2CF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46120" y="3734816"/>
            <a:ext cx="905256" cy="146304"/>
          </a:xfrm>
          <a:prstGeom prst="rect">
            <a:avLst/>
          </a:prstGeom>
          <a:solidFill>
            <a:srgbClr val="1C7A70"/>
          </a:solidFill>
          <a:ln>
            <a:solidFill>
              <a:srgbClr val="1C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44768" y="3692384"/>
            <a:ext cx="640080" cy="2523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36163"/>
                </a:solidFill>
                <a:latin typeface="Aptos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1412748"/>
            <a:ext cx="3337560" cy="416052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Oval 26"/>
          <p:cNvSpPr/>
          <p:nvPr/>
        </p:nvSpPr>
        <p:spPr>
          <a:xfrm>
            <a:off x="7909560" y="2240280"/>
            <a:ext cx="2331720" cy="233172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257031" y="2587752"/>
            <a:ext cx="1645920" cy="1645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89036" y="2984944"/>
            <a:ext cx="157276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3000" b="1" dirty="0">
                <a:solidFill>
                  <a:srgbClr val="236163"/>
                </a:solidFill>
                <a:latin typeface="Aptos"/>
              </a:rPr>
              <a:t>8</a:t>
            </a:r>
            <a:endParaRPr sz="3000" b="1" dirty="0">
              <a:solidFill>
                <a:srgbClr val="236163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94192" y="3493008"/>
            <a:ext cx="1371600" cy="2523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36163"/>
                </a:solidFill>
                <a:latin typeface="Aptos"/>
              </a:rPr>
              <a:t>/10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133A67-1E38-29A0-9CF8-8E05C804302D}"/>
              </a:ext>
            </a:extLst>
          </p:cNvPr>
          <p:cNvSpPr txBox="1"/>
          <p:nvPr/>
        </p:nvSpPr>
        <p:spPr>
          <a:xfrm>
            <a:off x="7630668" y="1676640"/>
            <a:ext cx="2697480" cy="25237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dirty="0">
                <a:solidFill>
                  <a:schemeClr val="accent5"/>
                </a:solidFill>
                <a:latin typeface="Aptos" panose="020B0004020202020204" pitchFamily="34" charset="0"/>
              </a:rPr>
              <a:t>Example Final Score</a:t>
            </a:r>
          </a:p>
        </p:txBody>
      </p:sp>
      <p:sp>
        <p:nvSpPr>
          <p:cNvPr id="38" name="Rounded Rectangle 16">
            <a:extLst>
              <a:ext uri="{FF2B5EF4-FFF2-40B4-BE49-F238E27FC236}">
                <a16:creationId xmlns:a16="http://schemas.microsoft.com/office/drawing/2014/main" id="{A1445D72-EEA7-234F-7EF1-3C8417950B7F}"/>
              </a:ext>
            </a:extLst>
          </p:cNvPr>
          <p:cNvSpPr/>
          <p:nvPr/>
        </p:nvSpPr>
        <p:spPr>
          <a:xfrm>
            <a:off x="822960" y="4475151"/>
            <a:ext cx="5321808" cy="1098117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897DB6-A19F-AD44-0556-038F8216CC1C}"/>
              </a:ext>
            </a:extLst>
          </p:cNvPr>
          <p:cNvSpPr txBox="1"/>
          <p:nvPr/>
        </p:nvSpPr>
        <p:spPr>
          <a:xfrm>
            <a:off x="7638034" y="4652430"/>
            <a:ext cx="2874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b="1" dirty="0">
                <a:solidFill>
                  <a:srgbClr val="236163"/>
                </a:solidFill>
                <a:latin typeface="Aptos" panose="020B0004020202020204" pitchFamily="34" charset="0"/>
              </a:rPr>
              <a:t>Recommendation: High Potential Opportunity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572000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236163"/>
                </a:solidFill>
                <a:latin typeface="Aptos"/>
              </a:rPr>
              <a:t>Decision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857308"/>
            <a:ext cx="504444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400" dirty="0">
                <a:latin typeface="Aptos"/>
              </a:rPr>
              <a:t>Investment Score &gt;= 7 </a:t>
            </a:r>
            <a:r>
              <a:rPr lang="en-IN" sz="1400" dirty="0">
                <a:latin typeface="Aptos"/>
              </a:rPr>
              <a:t>= </a:t>
            </a:r>
            <a:r>
              <a:rPr sz="1400" dirty="0">
                <a:latin typeface="Aptos"/>
              </a:rPr>
              <a:t>High Potential Properties.</a:t>
            </a:r>
            <a:endParaRPr lang="en-IN" sz="1400" dirty="0">
              <a:latin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ptos"/>
              </a:rPr>
              <a:t>Investment Score &lt; 7 = Standard Properties.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Aptos"/>
              </a:rPr>
              <a:t>Maximum Investment Score = 10.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8CCFE8-4976-F680-1348-69BF04424F72}"/>
              </a:ext>
            </a:extLst>
          </p:cNvPr>
          <p:cNvSpPr txBox="1"/>
          <p:nvPr/>
        </p:nvSpPr>
        <p:spPr>
          <a:xfrm>
            <a:off x="7723886" y="5168248"/>
            <a:ext cx="2788920" cy="1831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950" b="1" dirty="0">
                <a:solidFill>
                  <a:schemeClr val="accent5"/>
                </a:solidFill>
                <a:latin typeface="Aptos" panose="020B0004020202020204" pitchFamily="34" charset="0"/>
              </a:rPr>
              <a:t>Listing qualifies for alert and opportunity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800" b="1" dirty="0">
                <a:latin typeface="Aptos" panose="020B0004020202020204" pitchFamily="34" charset="0"/>
              </a:rPr>
              <a:t>Demo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241280" cy="2523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32323"/>
                </a:solidFill>
                <a:latin typeface="Aptos"/>
              </a:rPr>
              <a:t>Property: 18010 Bambriar Dr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2971800" cy="1115568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901952"/>
            <a:ext cx="2468880" cy="206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32323"/>
                </a:solidFill>
                <a:latin typeface="Aptos"/>
              </a:rPr>
              <a:t>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194560"/>
            <a:ext cx="2468880" cy="313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36163"/>
                </a:solidFill>
                <a:latin typeface="Aptos"/>
              </a:rPr>
              <a:t>$327,000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456" y="2578609"/>
            <a:ext cx="2660904" cy="190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96969"/>
                </a:solidFill>
                <a:latin typeface="Aptos"/>
              </a:rPr>
              <a:t>Competitive asking price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2971800" cy="1115568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901952"/>
            <a:ext cx="2468880" cy="206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32323"/>
                </a:solidFill>
                <a:latin typeface="Aptos"/>
              </a:rPr>
              <a:t>Beds / Baths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194560"/>
            <a:ext cx="2468880" cy="313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36163"/>
                </a:solidFill>
                <a:latin typeface="Aptos"/>
              </a:rPr>
              <a:t>4 /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336" y="2578609"/>
            <a:ext cx="2660904" cy="190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96969"/>
                </a:solidFill>
                <a:latin typeface="Aptos"/>
              </a:rPr>
              <a:t>Good family-home configuration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2971800" cy="1115568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1901952"/>
            <a:ext cx="2468880" cy="206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32323"/>
                </a:solidFill>
                <a:latin typeface="Aptos"/>
              </a:rPr>
              <a:t>Property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194560"/>
            <a:ext cx="2468880" cy="313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36163"/>
                </a:solidFill>
                <a:latin typeface="Aptos"/>
              </a:rPr>
              <a:t>Single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216" y="2578609"/>
            <a:ext cx="2660904" cy="190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696969"/>
                </a:solidFill>
                <a:latin typeface="Aptos"/>
              </a:rPr>
              <a:t>Residential property 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82112"/>
            <a:ext cx="6400800" cy="20574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401568"/>
            <a:ext cx="2743200" cy="313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36163"/>
                </a:solidFill>
                <a:latin typeface="Aptos"/>
              </a:rPr>
              <a:t>AI Analysis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803904"/>
            <a:ext cx="5806440" cy="10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rPr dirty="0"/>
              <a:t>Strengths: Competitive pricing; good bedroom-to-bathroom ratio; suitable family property</a:t>
            </a:r>
          </a:p>
          <a:p>
            <a:pPr>
              <a:spcAft>
                <a:spcPts val="8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rPr dirty="0"/>
              <a:t>Risks: Limited listing details available</a:t>
            </a:r>
          </a:p>
          <a:p>
            <a:pPr>
              <a:spcAft>
                <a:spcPts val="8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rPr dirty="0"/>
              <a:t>Actions Taken: Passed High Potential Filter; AI Analysis Generated; Telegram Alert Sent; Stored in Google Sheets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182112"/>
            <a:ext cx="2971800" cy="20574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28431" y="3609736"/>
            <a:ext cx="1325881" cy="1264015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74152" y="3877056"/>
            <a:ext cx="1234440" cy="467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4334256"/>
            <a:ext cx="10789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236163"/>
                </a:solidFill>
                <a:latin typeface="Aptos"/>
              </a:rPr>
              <a:t>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822192"/>
            <a:ext cx="978408" cy="221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32323"/>
                </a:solidFill>
                <a:latin typeface="Aptos"/>
              </a:rPr>
              <a:t>Investment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096512"/>
            <a:ext cx="1051560" cy="313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236163"/>
                </a:solidFill>
                <a:latin typeface="Aptos"/>
              </a:rPr>
              <a:t>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431" y="4800600"/>
            <a:ext cx="2103120" cy="146304"/>
          </a:xfrm>
          <a:prstGeom prst="rect">
            <a:avLst/>
          </a:prstGeom>
          <a:solidFill>
            <a:srgbClr val="C4D2CF"/>
          </a:solidFill>
          <a:ln>
            <a:solidFill>
              <a:srgbClr val="C4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28431" y="4800600"/>
            <a:ext cx="1682496" cy="146304"/>
          </a:xfrm>
          <a:prstGeom prst="rect">
            <a:avLst/>
          </a:prstGeom>
          <a:solidFill>
            <a:srgbClr val="1C7A70"/>
          </a:solidFill>
          <a:ln>
            <a:solidFill>
              <a:srgbClr val="1C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232323"/>
                </a:solidFill>
                <a:latin typeface="Aptos"/>
              </a:rPr>
              <a:t>Streamlit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8000" y="1540000"/>
            <a:ext cx="3932237" cy="3710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000" y="1830000"/>
            <a:ext cx="34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500" b="1" dirty="0">
                <a:solidFill>
                  <a:srgbClr val="236163"/>
                </a:solidFill>
                <a:latin typeface="Aptos"/>
              </a:rPr>
              <a:t>Dashboard</a:t>
            </a:r>
            <a:r>
              <a:rPr lang="en-IN" dirty="0"/>
              <a:t> </a:t>
            </a:r>
            <a:r>
              <a:rPr lang="en-IN" sz="1500" b="1" dirty="0">
                <a:solidFill>
                  <a:srgbClr val="236163"/>
                </a:solidFill>
                <a:latin typeface="Aptos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260000"/>
            <a:ext cx="340000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Property Search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Workflow Execution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KPI Monitoring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Opportunity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59680" y="1161160"/>
            <a:ext cx="6908800" cy="4535680"/>
          </a:xfrm>
          <a:prstGeom prst="roundRect">
            <a:avLst/>
          </a:prstGeom>
          <a:solidFill>
            <a:srgbClr val="FFFFFF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277" y="1551360"/>
            <a:ext cx="6631124" cy="3718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232323"/>
                </a:solidFill>
                <a:latin typeface="Aptos"/>
              </a:rPr>
              <a:t>AI Property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8000" y="1540000"/>
            <a:ext cx="3932237" cy="3710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000" y="1830000"/>
            <a:ext cx="34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236163"/>
                </a:solidFill>
                <a:latin typeface="Aptos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260000"/>
            <a:ext cx="3400000" cy="1564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AI Generated Summary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Strengths Identification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Risk Identification</a:t>
            </a:r>
            <a:endParaRPr lang="en-IN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dirty="0"/>
              <a:t>Investment Score</a:t>
            </a:r>
            <a:endParaRPr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Recommendation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12237" y="1229360"/>
            <a:ext cx="6793683" cy="4274440"/>
          </a:xfrm>
          <a:prstGeom prst="roundRect">
            <a:avLst/>
          </a:prstGeom>
          <a:solidFill>
            <a:srgbClr val="FFFFFF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i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726" y="1686560"/>
            <a:ext cx="6624352" cy="33960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232323"/>
                </a:solidFill>
                <a:latin typeface="Aptos"/>
              </a:rPr>
              <a:t>Google Sheets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8000" y="1540000"/>
            <a:ext cx="3932237" cy="3710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000" y="1830000"/>
            <a:ext cx="34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236163"/>
                </a:solidFill>
                <a:latin typeface="Aptos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260000"/>
            <a:ext cx="340000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Centralized Storage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Historical Tracking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Structured Property Records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Reporting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12236" y="1308480"/>
            <a:ext cx="6753044" cy="4241040"/>
          </a:xfrm>
          <a:prstGeom prst="roundRect">
            <a:avLst/>
          </a:prstGeom>
          <a:solidFill>
            <a:srgbClr val="FFFFFF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oogle_she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747" y="1830000"/>
            <a:ext cx="6583862" cy="3239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800" b="1">
                <a:latin typeface="Aptos" panose="020B0004020202020204" pitchFamily="34" charset="0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3063240" cy="1296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00" y="1431872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00" y="1522592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5800" y="1471872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/>
              </a:rPr>
              <a:t>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800" y="1921872"/>
            <a:ext cx="25532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0">
                <a:solidFill>
                  <a:srgbClr val="232323"/>
                </a:solidFill>
                <a:latin typeface="Aptos"/>
              </a:rPr>
              <a:t>User dashboard
Property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61872"/>
            <a:ext cx="3063240" cy="1296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17680" y="1431872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680" y="1522592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7680" y="1471872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2680" y="1921872"/>
            <a:ext cx="25532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0">
                <a:solidFill>
                  <a:srgbClr val="232323"/>
                </a:solidFill>
                <a:latin typeface="Aptos"/>
              </a:rPr>
              <a:t>Data logic
Scoring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261872"/>
            <a:ext cx="3063240" cy="1296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560" y="1431872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60" y="1522592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9560" y="1471872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/>
              </a:rPr>
              <a:t>n8n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4560" y="1921872"/>
            <a:ext cx="25532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0">
                <a:solidFill>
                  <a:srgbClr val="232323"/>
                </a:solidFill>
                <a:latin typeface="Aptos"/>
              </a:rPr>
              <a:t>Workflow automation
Webhook execution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56128"/>
            <a:ext cx="3063240" cy="1296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00" y="3226128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00" y="3316848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5800" y="3266128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/>
              </a:rPr>
              <a:t>Groq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800" y="3716128"/>
            <a:ext cx="25532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0">
                <a:solidFill>
                  <a:srgbClr val="232323"/>
                </a:solidFill>
                <a:latin typeface="Aptos"/>
              </a:rPr>
              <a:t>AI property analysis
Narrative summaries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056128"/>
            <a:ext cx="3063240" cy="1296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617680" y="3226128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680" y="3316848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7680" y="3266128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/>
              </a:rPr>
              <a:t>Realtor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2680" y="3716128"/>
            <a:ext cx="25532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32323"/>
                </a:solidFill>
                <a:latin typeface="Aptos"/>
              </a:rPr>
              <a:t>Property listings
Market data source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3056128"/>
            <a:ext cx="3063240" cy="1296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9560" y="3226128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60" y="3316848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9560" y="3266128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/>
              </a:rPr>
              <a:t>Telegram Bot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4560" y="3716128"/>
            <a:ext cx="25532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0">
                <a:solidFill>
                  <a:srgbClr val="232323"/>
                </a:solidFill>
                <a:latin typeface="Aptos"/>
              </a:rPr>
              <a:t>Real-time alerts
Opportunity notification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817120"/>
            <a:ext cx="3063240" cy="1296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617680" y="4987120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680" y="5077840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7680" y="5027120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/>
              </a:rPr>
              <a:t>Google Sheets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2680" y="5477120"/>
            <a:ext cx="25532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32323"/>
                </a:solidFill>
                <a:latin typeface="Aptos"/>
              </a:rPr>
              <a:t>Centralized storage
Historical records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>
            <a:defPPr>
              <a:defRPr lang="en-US"/>
            </a:defPPr>
            <a:lvl1pPr>
              <a:defRPr sz="2800" b="1">
                <a:latin typeface="Aptos" panose="020B0004020202020204" pitchFamily="34" charset="0"/>
              </a:defRPr>
            </a:lvl1pPr>
          </a:lstStyle>
          <a:p>
            <a:r>
              <a:rPr dirty="0"/>
              <a:t>Business Impact &amp;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3063240" cy="1143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00" y="1431872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00" y="1522592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5800" y="1471872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236163"/>
                </a:solidFill>
                <a:latin typeface="Aptos"/>
              </a:rPr>
              <a:t>Automated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800" y="1921872"/>
            <a:ext cx="2553240" cy="38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dirty="0">
                <a:solidFill>
                  <a:srgbClr val="232323"/>
                </a:solidFill>
                <a:latin typeface="Aptos"/>
              </a:rPr>
              <a:t>Automated Property Discovery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61872"/>
            <a:ext cx="3063240" cy="1143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17680" y="1431872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680" y="1522592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7680" y="1471872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/>
              </a:rPr>
              <a:t>Identification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2680" y="1921872"/>
            <a:ext cx="2553240" cy="38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32323"/>
                </a:solidFill>
                <a:latin typeface="Aptos"/>
              </a:rPr>
              <a:t>Faster Opportunity Identification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261872"/>
            <a:ext cx="3063240" cy="1143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560" y="1431872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60" y="1522592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9560" y="1471872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/>
              </a:rPr>
              <a:t>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4560" y="1921872"/>
            <a:ext cx="2553240" cy="38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32323"/>
                </a:solidFill>
                <a:latin typeface="Aptos"/>
              </a:rPr>
              <a:t>AI-Powered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93008"/>
            <a:ext cx="3063240" cy="1143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00" y="3663008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00" y="3753728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5800" y="3703008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/>
              </a:rPr>
              <a:t>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800" y="4153008"/>
            <a:ext cx="2553240" cy="38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dirty="0">
                <a:solidFill>
                  <a:srgbClr val="232323"/>
                </a:solidFill>
                <a:latin typeface="Aptos"/>
              </a:rPr>
              <a:t>Real-Time Notifications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493008"/>
            <a:ext cx="3063240" cy="1143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617680" y="3663008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680" y="3753728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7680" y="3703008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/>
              </a:rPr>
              <a:t>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2680" y="4153008"/>
            <a:ext cx="2553240" cy="38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32323"/>
                </a:solidFill>
                <a:latin typeface="Aptos"/>
              </a:rPr>
              <a:t>Centralized Opportunity Tracking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3493008"/>
            <a:ext cx="3063240" cy="1143000"/>
          </a:xfrm>
          <a:prstGeom prst="roundRect">
            <a:avLst/>
          </a:prstGeom>
          <a:solidFill>
            <a:srgbClr val="ECF5F3"/>
          </a:solidFill>
          <a:ln>
            <a:solidFill>
              <a:srgbClr val="DC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9560" y="3663008"/>
            <a:ext cx="324000" cy="324000"/>
          </a:xfrm>
          <a:prstGeom prst="ellipse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60" y="3753728"/>
            <a:ext cx="324000" cy="12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9560" y="3703008"/>
            <a:ext cx="216324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36163"/>
                </a:solidFill>
                <a:latin typeface="Aptos"/>
              </a:rPr>
              <a:t>Efficiency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4560" y="4153008"/>
            <a:ext cx="2553240" cy="38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32323"/>
                </a:solidFill>
                <a:latin typeface="Aptos"/>
              </a:rPr>
              <a:t>Reduced Manual Effort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>
            <a:defPPr>
              <a:defRPr lang="en-US"/>
            </a:defPPr>
            <a:lvl1pPr>
              <a:defRPr sz="2800" b="1">
                <a:latin typeface="Aptos" panose="020B0004020202020204" pitchFamily="34" charset="0"/>
              </a:defRPr>
            </a:lvl1pPr>
          </a:lstStyle>
          <a:p>
            <a:r>
              <a:rPr dirty="0"/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9941560" cy="1754326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latin typeface="Aptos" panose="020B0004020202020204" pitchFamily="34" charset="0"/>
              </a:rPr>
              <a:t>Property price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latin typeface="Aptos" panose="020B0004020202020204" pitchFamily="34" charset="0"/>
              </a:rPr>
              <a:t>Location intelligence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latin typeface="Aptos" panose="020B0004020202020204" pitchFamily="34" charset="0"/>
              </a:rPr>
              <a:t>Property comparison engine.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latin typeface="Aptos" panose="020B0004020202020204" pitchFamily="34" charset="0"/>
              </a:rPr>
              <a:t>Rental yield estimation.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latin typeface="Aptos" panose="020B0004020202020204" pitchFamily="34" charset="0"/>
              </a:rPr>
              <a:t>CRM and broker follow-up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latin typeface="Aptos" panose="020B0004020202020204" pitchFamily="34" charset="0"/>
              </a:rPr>
              <a:t>Expanded reporting from Google Sheets history.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800" b="1" dirty="0"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45720"/>
          </a:xfrm>
          <a:prstGeom prst="rect">
            <a:avLst/>
          </a:prstGeom>
          <a:solidFill>
            <a:srgbClr val="1C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9911080" cy="2031325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Aptos" panose="020B0004020202020204" pitchFamily="34" charset="0"/>
              </a:rPr>
              <a:t>The AI Real Estate Listing Intelligence Agent automates property opportunity discovery using n8n and 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Aptos" panose="020B0004020202020204" pitchFamily="34" charset="0"/>
              </a:rPr>
              <a:t>The implemented workflow connects </a:t>
            </a:r>
            <a:r>
              <a:rPr dirty="0" err="1">
                <a:latin typeface="Aptos" panose="020B0004020202020204" pitchFamily="34" charset="0"/>
              </a:rPr>
              <a:t>Streamlit</a:t>
            </a:r>
            <a:r>
              <a:rPr dirty="0">
                <a:latin typeface="Aptos" panose="020B0004020202020204" pitchFamily="34" charset="0"/>
              </a:rPr>
              <a:t>, Realtor API, scoring logic, </a:t>
            </a:r>
            <a:r>
              <a:rPr dirty="0" err="1">
                <a:latin typeface="Aptos" panose="020B0004020202020204" pitchFamily="34" charset="0"/>
              </a:rPr>
              <a:t>Groq</a:t>
            </a:r>
            <a:r>
              <a:rPr dirty="0">
                <a:latin typeface="Aptos" panose="020B0004020202020204" pitchFamily="34" charset="0"/>
              </a:rPr>
              <a:t> AI analysis, Telegram alerts, and Google Sheets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Aptos" panose="020B0004020202020204" pitchFamily="34" charset="0"/>
              </a:rPr>
              <a:t>It improves screening speed, standardizes investment evaluation, and centralizes opportunity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Aptos" panose="020B0004020202020204" pitchFamily="34" charset="0"/>
              </a:rPr>
              <a:t>The solution provides a practical foundation for scalable real estate intelligence automation.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FA56A-F422-B256-4044-3761DCF9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A3416A1-AE19-7AC1-F255-A7175FCDEAD3}"/>
              </a:ext>
            </a:extLst>
          </p:cNvPr>
          <p:cNvSpPr txBox="1"/>
          <p:nvPr/>
        </p:nvSpPr>
        <p:spPr>
          <a:xfrm>
            <a:off x="1066800" y="1874520"/>
            <a:ext cx="1005840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4400" b="1">
                <a:solidFill>
                  <a:srgbClr val="12524C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F27E75-2DBB-F2C9-9212-CB5196D43EF1}"/>
              </a:ext>
            </a:extLst>
          </p:cNvPr>
          <p:cNvSpPr txBox="1"/>
          <p:nvPr/>
        </p:nvSpPr>
        <p:spPr>
          <a:xfrm>
            <a:off x="4142740" y="2808589"/>
            <a:ext cx="390652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000" b="0">
                <a:solidFill>
                  <a:srgbClr val="1F2937"/>
                </a:solidFill>
                <a:latin typeface="Aptos"/>
              </a:defRPr>
            </a:pPr>
            <a:r>
              <a:rPr i="1" dirty="0"/>
              <a:t>Questions and discussion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280D6C-E2D5-6C22-8F0D-1C8D72B01F3A}"/>
              </a:ext>
            </a:extLst>
          </p:cNvPr>
          <p:cNvSpPr txBox="1"/>
          <p:nvPr/>
        </p:nvSpPr>
        <p:spPr>
          <a:xfrm>
            <a:off x="2223516" y="3264408"/>
            <a:ext cx="7744968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 u="sng" dirty="0">
                <a:latin typeface="Aptos" panose="020B0004020202020204" pitchFamily="34" charset="0"/>
              </a:rPr>
              <a:t>Real Estate Listing Intelligence Agent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BF99DF-D501-A25B-A757-88E3D91F533F}"/>
              </a:ext>
            </a:extLst>
          </p:cNvPr>
          <p:cNvSpPr txBox="1"/>
          <p:nvPr/>
        </p:nvSpPr>
        <p:spPr>
          <a:xfrm>
            <a:off x="2223516" y="3667722"/>
            <a:ext cx="7744968" cy="25237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dirty="0">
                <a:latin typeface="Aptos" panose="020B0004020202020204" pitchFamily="34" charset="0"/>
              </a:rPr>
              <a:t>Agentic AI System for Automated Property Opportunity Discovery &amp; Investment Intelligence</a:t>
            </a:r>
          </a:p>
        </p:txBody>
      </p:sp>
    </p:spTree>
    <p:extLst>
      <p:ext uri="{BB962C8B-B14F-4D97-AF65-F5344CB8AC3E}">
        <p14:creationId xmlns:p14="http://schemas.microsoft.com/office/powerpoint/2010/main" val="3193025054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16635</TotalTime>
  <Words>723</Words>
  <Application>Microsoft Office PowerPoint</Application>
  <PresentationFormat>Widescreen</PresentationFormat>
  <Paragraphs>207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Open Sans</vt:lpstr>
      <vt:lpstr>PT Sans Narrow</vt:lpstr>
      <vt:lpstr>Raleway</vt:lpstr>
      <vt:lpstr>Tropic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Dell</cp:lastModifiedBy>
  <cp:revision>127</cp:revision>
  <dcterms:created xsi:type="dcterms:W3CDTF">2025-04-04T02:52:34Z</dcterms:created>
  <dcterms:modified xsi:type="dcterms:W3CDTF">2026-06-19T08:21:53Z</dcterms:modified>
</cp:coreProperties>
</file>